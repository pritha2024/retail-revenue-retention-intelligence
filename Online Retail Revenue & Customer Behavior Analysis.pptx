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3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92000"/>
                </a:srgbClr>
              </a:gs>
              <a:gs pos="100000">
                <a:srgbClr val="1E293B">
                  <a:alpha val="88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29154" y="968519"/>
            <a:ext cx="533386" cy="406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0635" y="1809749"/>
            <a:ext cx="9000899" cy="1295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420"/>
              </a:lnSpc>
              <a:spcBef>
                <a:spcPts val="0"/>
              </a:spcBef>
              <a:spcAft>
                <a:spcPts val="2080"/>
              </a:spcAft>
            </a:pPr>
            <a:r>
              <a:rPr sz="3707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 Online Retail Revenue</a:t>
            </a:r>
            <a:r>
              <a:rPr sz="1104"/>
              <a:t>
</a:t>
            </a:r>
            <a:r>
              <a:rPr sz="3707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&amp; Customer Behavior Analysis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371" y="3409950"/>
            <a:ext cx="1904952" cy="28575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10B981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90635" y="3819524"/>
            <a:ext cx="90008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Data-Driven Insights for Business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8339" y="4581524"/>
            <a:ext cx="3543211" cy="571500"/>
          </a:xfrm>
          <a:prstGeom prst="roundRect">
            <a:avLst>
              <a:gd name="adj" fmla="val 26666"/>
            </a:avLst>
          </a:prstGeom>
          <a:solidFill>
            <a:srgbClr val="3B82F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590735" y="4794802"/>
            <a:ext cx="266693" cy="1449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71725" y="4743450"/>
            <a:ext cx="140966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Revenue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4" y="4581524"/>
            <a:ext cx="3543211" cy="571500"/>
          </a:xfrm>
          <a:prstGeom prst="roundRect">
            <a:avLst>
              <a:gd name="adj" fmla="val 26666"/>
            </a:avLst>
          </a:prstGeom>
          <a:solidFill>
            <a:srgbClr val="3B82F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62540" y="4783206"/>
            <a:ext cx="266693" cy="1681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43531" y="4743450"/>
            <a:ext cx="186685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Customer Segmentation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8339" y="5381624"/>
            <a:ext cx="3543211" cy="571500"/>
          </a:xfrm>
          <a:prstGeom prst="roundRect">
            <a:avLst>
              <a:gd name="adj" fmla="val 26666"/>
            </a:avLst>
          </a:prstGeom>
          <a:solidFill>
            <a:srgbClr val="3B82F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590735" y="5552867"/>
            <a:ext cx="266693" cy="2290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71725" y="5543550"/>
            <a:ext cx="12858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Churn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4" y="5381624"/>
            <a:ext cx="3543211" cy="571500"/>
          </a:xfrm>
          <a:prstGeom prst="roundRect">
            <a:avLst>
              <a:gd name="adj" fmla="val 26666"/>
            </a:avLst>
          </a:prstGeom>
          <a:solidFill>
            <a:srgbClr val="3B82F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62540" y="5554317"/>
            <a:ext cx="266693" cy="2261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43531" y="5543550"/>
            <a:ext cx="217164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398135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266824"/>
            <a:ext cx="2571685" cy="1581149"/>
          </a:xfrm>
          <a:prstGeom prst="roundRect">
            <a:avLst>
              <a:gd name="adj" fmla="val 9638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14950" y="1991358"/>
            <a:ext cx="1581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76278" y="1545677"/>
            <a:ext cx="342891" cy="242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278" y="1952624"/>
            <a:ext cx="207639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2511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£8.91M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78" y="2390774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Total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9864" y="1266824"/>
            <a:ext cx="2571685" cy="1581149"/>
          </a:xfrm>
          <a:prstGeom prst="roundRect">
            <a:avLst>
              <a:gd name="adj" fmla="val 9638"/>
            </a:avLst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2685330" y="1991358"/>
            <a:ext cx="1581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76558" y="1522029"/>
            <a:ext cx="342891" cy="2896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76558" y="1952624"/>
            <a:ext cx="207639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2511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18,532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58" y="2390774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Total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4" y="1266824"/>
            <a:ext cx="2571685" cy="1581149"/>
          </a:xfrm>
          <a:prstGeom prst="roundRect">
            <a:avLst>
              <a:gd name="adj" fmla="val 9638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485610" y="1991358"/>
            <a:ext cx="1581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1522029"/>
            <a:ext cx="342891" cy="2896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6838" y="1952624"/>
            <a:ext cx="207639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2511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£481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2390774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Avg Order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0424" y="1266824"/>
            <a:ext cx="2571685" cy="1581149"/>
          </a:xfrm>
          <a:prstGeom prst="roundRect">
            <a:avLst>
              <a:gd name="adj" fmla="val 9638"/>
            </a:avLst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8285890" y="1991358"/>
            <a:ext cx="1581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277118" y="1560457"/>
            <a:ext cx="342891" cy="2128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77118" y="1952624"/>
            <a:ext cx="207639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2511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4,372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118" y="2390774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Identified Customers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3562349"/>
            <a:ext cx="5333866" cy="2838450"/>
          </a:xfrm>
          <a:prstGeom prst="roundRect">
            <a:avLst>
              <a:gd name="adj" fmla="val 8053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4377" y="3949944"/>
            <a:ext cx="304792" cy="23446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377" y="4495799"/>
            <a:ext cx="4724281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Transactional data analysis &amp; cleaning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4377" y="4551045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377" y="4933950"/>
            <a:ext cx="4724281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RFM customer segmentation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4377" y="4989194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4377" y="5372100"/>
            <a:ext cx="4724281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Churn prediction modeling (ML)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4377" y="5427344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4377" y="5810249"/>
            <a:ext cx="4724281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Power BI business dashboard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4377" y="5865495"/>
            <a:ext cx="228594" cy="194309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248243" y="3562349"/>
            <a:ext cx="5333866" cy="2838450"/>
          </a:xfrm>
          <a:prstGeom prst="roundRect">
            <a:avLst>
              <a:gd name="adj" fmla="val 8053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53036" y="3954340"/>
            <a:ext cx="304792" cy="2256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53036" y="4495799"/>
            <a:ext cx="4724281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1">
                <a:solidFill>
                  <a:srgbClr val="F59E0B"/>
                </a:solidFill>
                <a:latin typeface="Roboto"/>
                <a:rFonts ascii="Roboto" hAnsi="Roboto" eastAsia="Roboto" cs="Roboto"/>
              </a:rPr>
              <a:t>UK dominance: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82% revenue share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53036" y="4585334"/>
            <a:ext cx="228594" cy="12572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53036" y="4933950"/>
            <a:ext cx="4724281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1">
                <a:solidFill>
                  <a:srgbClr val="F59E0B"/>
                </a:solidFill>
                <a:latin typeface="Roboto"/>
                <a:rFonts ascii="Roboto" hAnsi="Roboto" eastAsia="Roboto" cs="Roboto"/>
              </a:rPr>
              <a:t>Q4 seasonality: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Peak in Nov-Dec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53036" y="5023484"/>
            <a:ext cx="228594" cy="12572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53036" y="5372100"/>
            <a:ext cx="4724281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1">
                <a:solidFill>
                  <a:srgbClr val="F59E0B"/>
                </a:solidFill>
                <a:latin typeface="Roboto"/>
                <a:rFonts ascii="Roboto" hAnsi="Roboto" eastAsia="Roboto" cs="Roboto"/>
              </a:rPr>
              <a:t>Retention: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65.6% repeat customers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53036" y="5461635"/>
            <a:ext cx="228594" cy="12572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553036" y="5810249"/>
            <a:ext cx="4724281" cy="2857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96" b="1">
                <a:solidFill>
                  <a:srgbClr val="F59E0B"/>
                </a:solidFill>
                <a:latin typeface="Roboto"/>
                <a:rFonts ascii="Roboto" hAnsi="Roboto" eastAsia="Roboto" cs="Roboto"/>
              </a:rPr>
              <a:t>4 customer segments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identified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53036" y="5899784"/>
            <a:ext cx="228594" cy="125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2004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Project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257300"/>
            <a:ext cx="4238519" cy="5143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29094" y="1266824"/>
            <a:ext cx="3086022" cy="2276474"/>
          </a:xfrm>
          <a:prstGeom prst="roundRect">
            <a:avLst>
              <a:gd name="adj" fmla="val 6694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4156897" y="2339021"/>
            <a:ext cx="22764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57688" y="1657350"/>
            <a:ext cx="352416" cy="457200"/>
          </a:xfrm>
          <a:prstGeom prst="roundRect">
            <a:avLst>
              <a:gd name="adj" fmla="val 54048648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1035" y="1714500"/>
            <a:ext cx="8572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2500" y="1457325"/>
            <a:ext cx="2152596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Data Auditing &amp;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2500" y="2105024"/>
            <a:ext cx="476238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7273" y="2428875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Remove duplicate rows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67273" y="2454088"/>
            <a:ext cx="190495" cy="140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67273" y="2762249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Handle cancellations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67273" y="2787463"/>
            <a:ext cx="190495" cy="1400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7273" y="3095625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Quality flag processing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67273" y="3120838"/>
            <a:ext cx="190495" cy="14007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496087" y="1266824"/>
            <a:ext cx="3086022" cy="2276474"/>
          </a:xfrm>
          <a:prstGeom prst="roundRect">
            <a:avLst>
              <a:gd name="adj" fmla="val 6694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7423890" y="2339021"/>
            <a:ext cx="22764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24681" y="15049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6602" y="1562100"/>
            <a:ext cx="13334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266" y="1457325"/>
            <a:ext cx="196210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Insight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266" y="1790700"/>
            <a:ext cx="866753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SQL (SQLite)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266" y="2114550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Revenue KPIs &amp; trends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6" y="2139763"/>
            <a:ext cx="190495" cy="1400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34266" y="2447924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Product performance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6" y="2473138"/>
            <a:ext cx="190495" cy="1400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34266" y="2781300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Country-level analysis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6" y="2806513"/>
            <a:ext cx="190495" cy="140073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229094" y="3733799"/>
            <a:ext cx="3086022" cy="2533649"/>
          </a:xfrm>
          <a:prstGeom prst="roundRect">
            <a:avLst>
              <a:gd name="adj" fmla="val 6015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4028310" y="4934583"/>
            <a:ext cx="2533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57688" y="4124324"/>
            <a:ext cx="361940" cy="457200"/>
          </a:xfrm>
          <a:prstGeom prst="roundRect">
            <a:avLst>
              <a:gd name="adj" fmla="val 52626315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1985" y="4181474"/>
            <a:ext cx="13334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2025" y="3924299"/>
            <a:ext cx="2143071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Customer Segmentation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2025" y="4572000"/>
            <a:ext cx="981050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RFM Modeling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7273" y="4895849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Recency analysis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67273" y="4921063"/>
            <a:ext cx="190495" cy="14007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67273" y="5229225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Frequency scoring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67273" y="5254438"/>
            <a:ext cx="190495" cy="14007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67273" y="5562600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Monetary evaluation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67273" y="5587813"/>
            <a:ext cx="190495" cy="140073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496087" y="3733799"/>
            <a:ext cx="3086022" cy="2533649"/>
          </a:xfrm>
          <a:prstGeom prst="roundRect">
            <a:avLst>
              <a:gd name="adj" fmla="val 6015"/>
            </a:avLst>
          </a:prstGeom>
          <a:solidFill>
            <a:srgbClr val="8B5C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7295303" y="4934583"/>
            <a:ext cx="2533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24681" y="4124324"/>
            <a:ext cx="409564" cy="457200"/>
          </a:xfrm>
          <a:prstGeom prst="roundRect">
            <a:avLst>
              <a:gd name="adj" fmla="val 46506976"/>
            </a:avLst>
          </a:prstGeom>
          <a:solidFill>
            <a:srgbClr val="8B5C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58028" y="4181474"/>
            <a:ext cx="16192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6642" y="3924299"/>
            <a:ext cx="2104972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Business Intelligence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6642" y="4572000"/>
            <a:ext cx="1381090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Power BI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34266" y="4895849"/>
            <a:ext cx="2057348" cy="5143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Interactive visualization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6" y="4921063"/>
            <a:ext cx="190495" cy="14007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334266" y="5486400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KPI tracking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6" y="5511613"/>
            <a:ext cx="190495" cy="14007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34266" y="5819775"/>
            <a:ext cx="2057348" cy="2571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Slicer-based filtering</a:t>
            </a:r>
            <a:r>
              <a:rPr sz="956" b="0">
                <a:solidFill>
                  <a:srgbClr val="00000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6" y="5844988"/>
            <a:ext cx="190495" cy="1400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652446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Data Quality &amp; 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90625"/>
            <a:ext cx="5333866" cy="1971675"/>
          </a:xfrm>
          <a:prstGeom prst="roundRect">
            <a:avLst>
              <a:gd name="adj" fmla="val 7729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498923"/>
            <a:ext cx="285742" cy="2216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179" y="1981199"/>
            <a:ext cx="152396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2511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25,900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79" y="2419349"/>
            <a:ext cx="15239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Unique 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537" y="1981199"/>
            <a:ext cx="152396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2511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4,372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37" y="2419349"/>
            <a:ext cx="1523961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Identified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895" y="1981199"/>
            <a:ext cx="152396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2511" b="1">
                <a:solidFill>
                  <a:srgbClr val="EF4444"/>
                </a:solidFill>
                <a:latin typeface="Montserrat"/>
                <a:rFonts ascii="Montserrat" hAnsi="Montserrat" eastAsia="Montserrat" cs="Montserrat"/>
              </a:rPr>
              <a:t>5,268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895" y="2419349"/>
            <a:ext cx="15239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Duplicate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390899"/>
            <a:ext cx="5333866" cy="2447924"/>
          </a:xfrm>
          <a:prstGeom prst="roundRect">
            <a:avLst>
              <a:gd name="adj" fmla="val 6225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3683842"/>
            <a:ext cx="285742" cy="2332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179" y="4238624"/>
            <a:ext cx="186685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Cancellation Rows (C)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2400" y="4181474"/>
            <a:ext cx="75245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F4444"/>
                </a:solidFill>
                <a:latin typeface="Montserrat"/>
                <a:rFonts ascii="Montserrat" hAnsi="Montserrat" eastAsia="Montserrat" cs="Montserrat"/>
              </a:rPr>
              <a:t>9,288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79" y="4752974"/>
            <a:ext cx="154301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Negative/Zero Qty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628" y="4695824"/>
            <a:ext cx="85722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F4444"/>
                </a:solidFill>
                <a:latin typeface="Montserrat"/>
                <a:rFonts ascii="Montserrat" hAnsi="Montserrat" eastAsia="Montserrat" cs="Montserrat"/>
              </a:rPr>
              <a:t>10,624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79" y="5267324"/>
            <a:ext cx="155253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Non-Positive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7648" y="5210174"/>
            <a:ext cx="65720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F4444"/>
                </a:solidFill>
                <a:latin typeface="Montserrat"/>
                <a:rFonts ascii="Montserrat" hAnsi="Montserrat" eastAsia="Montserrat" cs="Montserrat"/>
              </a:rPr>
              <a:t>2,517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243" y="1190625"/>
            <a:ext cx="5333866" cy="2219324"/>
          </a:xfrm>
          <a:prstGeom prst="roundRect">
            <a:avLst>
              <a:gd name="adj" fmla="val 6866"/>
            </a:avLst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1507671"/>
            <a:ext cx="285742" cy="204107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199834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19729" y="2228850"/>
            <a:ext cx="26859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 valid sales for trends &amp; products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2693670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19729" y="2924175"/>
            <a:ext cx="257168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Identified customers only for RFM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243" y="3638550"/>
            <a:ext cx="5333866" cy="2066924"/>
          </a:xfrm>
          <a:prstGeom prst="roundRect">
            <a:avLst>
              <a:gd name="adj" fmla="val 7373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76838" y="3946071"/>
            <a:ext cx="285742" cy="20410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476838" y="4391025"/>
            <a:ext cx="2381190" cy="485775"/>
          </a:xfrm>
          <a:prstGeom prst="roundRect">
            <a:avLst>
              <a:gd name="adj" fmla="val 15686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91135" y="4573544"/>
            <a:ext cx="209544" cy="1302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76878" y="4505325"/>
            <a:ext cx="135251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CustomerID ≠ null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2325" y="4391025"/>
            <a:ext cx="2381190" cy="485775"/>
          </a:xfrm>
          <a:prstGeom prst="roundRect">
            <a:avLst>
              <a:gd name="adj" fmla="val 15686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86622" y="4573544"/>
            <a:ext cx="209544" cy="1302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72365" y="4505325"/>
            <a:ext cx="111439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InvoiceNo ≠ 'C'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6838" y="4991100"/>
            <a:ext cx="2381190" cy="485775"/>
          </a:xfrm>
          <a:prstGeom prst="roundRect">
            <a:avLst>
              <a:gd name="adj" fmla="val 15686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91135" y="5164094"/>
            <a:ext cx="209544" cy="1302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76878" y="5105400"/>
            <a:ext cx="90485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Quantity &gt; 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2325" y="4991100"/>
            <a:ext cx="2381190" cy="485775"/>
          </a:xfrm>
          <a:prstGeom prst="roundRect">
            <a:avLst>
              <a:gd name="adj" fmla="val 15686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86622" y="5164094"/>
            <a:ext cx="209544" cy="1302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372365" y="5105400"/>
            <a:ext cx="96200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UnitPrice &gt;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67435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Revenue Performance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2600259" cy="1371600"/>
          </a:xfrm>
          <a:prstGeom prst="roundRect">
            <a:avLst>
              <a:gd name="adj" fmla="val 11111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0176" y="1734185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348886"/>
            <a:ext cx="304792" cy="216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179" y="1685925"/>
            <a:ext cx="21811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£8.91M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79" y="2066924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Total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0339" y="1114425"/>
            <a:ext cx="2600259" cy="1371600"/>
          </a:xfrm>
          <a:prstGeom prst="roundRect">
            <a:avLst>
              <a:gd name="adj" fmla="val 11111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2780579" y="1734185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628934" y="1328371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28934" y="1685925"/>
            <a:ext cx="21811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18,532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8934" y="2066924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Total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095" y="1114425"/>
            <a:ext cx="2600259" cy="1371600"/>
          </a:xfrm>
          <a:prstGeom prst="roundRect">
            <a:avLst>
              <a:gd name="adj" fmla="val 11111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71335" y="1734185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328371"/>
            <a:ext cx="304792" cy="2579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689" y="1685925"/>
            <a:ext cx="21811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£481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689" y="2066924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Avg Order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1850" y="1114425"/>
            <a:ext cx="2600259" cy="1371600"/>
          </a:xfrm>
          <a:prstGeom prst="roundRect">
            <a:avLst>
              <a:gd name="adj" fmla="val 11111"/>
            </a:avLst>
          </a:prstGeom>
          <a:solidFill>
            <a:srgbClr val="8B5C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8362090" y="1734185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210444" y="1328371"/>
            <a:ext cx="304792" cy="2579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10444" y="1685925"/>
            <a:ext cx="21811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2152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444" y="2066924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UK Revenue Share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2714625"/>
            <a:ext cx="5371965" cy="4048124"/>
          </a:xfrm>
          <a:prstGeom prst="roundRect">
            <a:avLst>
              <a:gd name="adj" fmla="val 3764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8179" y="3030606"/>
            <a:ext cx="266693" cy="168136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8179" y="3438525"/>
            <a:ext cx="4914777" cy="309562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210144" y="2714625"/>
            <a:ext cx="5371965" cy="4048124"/>
          </a:xfrm>
          <a:prstGeom prst="roundRect">
            <a:avLst>
              <a:gd name="adj" fmla="val 3764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3036404"/>
            <a:ext cx="266693" cy="156541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3438525"/>
            <a:ext cx="4914777" cy="3095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391467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Revenue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5371965" cy="3076574"/>
          </a:xfrm>
          <a:prstGeom prst="roundRect">
            <a:avLst>
              <a:gd name="adj" fmla="val 4953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0079" y="1372960"/>
            <a:ext cx="285742" cy="244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79" y="1866899"/>
            <a:ext cx="17906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Paper Craft Little Birdie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3331" y="1828800"/>
            <a:ext cx="104772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£168,470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24100"/>
            <a:ext cx="20097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Regency Cakestand 3-Tier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1905" y="2286000"/>
            <a:ext cx="10191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£142,593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781300"/>
            <a:ext cx="159063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White Hanging Heart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5232" y="2743200"/>
            <a:ext cx="107629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£100,448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238500"/>
            <a:ext cx="207639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Jumbo Bag Red Retrosport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3826" y="3200400"/>
            <a:ext cx="8572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£85,221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695699"/>
            <a:ext cx="156206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Ceramic Storage Jar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2400" y="3657600"/>
            <a:ext cx="82865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£81,417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381499"/>
            <a:ext cx="2609784" cy="2076449"/>
          </a:xfrm>
          <a:prstGeom prst="roundRect">
            <a:avLst>
              <a:gd name="adj" fmla="val 7339"/>
            </a:avLst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4611342"/>
            <a:ext cx="266693" cy="2261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2971" y="4572000"/>
            <a:ext cx="186685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Repeat Purchase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5000625"/>
            <a:ext cx="222879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65.6%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5400675"/>
            <a:ext cx="222879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Repeat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5734050"/>
            <a:ext cx="22287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CBD5E1"/>
                </a:solidFill>
                <a:latin typeface="Montserrat"/>
                <a:rFonts ascii="Montserrat" hAnsi="Montserrat" eastAsia="Montserrat" cs="Montserrat"/>
              </a:rPr>
              <a:t>34.4%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79" y="6038849"/>
            <a:ext cx="22287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Single Purchase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71765" y="4381499"/>
            <a:ext cx="2609784" cy="2076449"/>
          </a:xfrm>
          <a:prstGeom prst="roundRect">
            <a:avLst>
              <a:gd name="adj" fmla="val 7339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62260" y="4773267"/>
            <a:ext cx="266693" cy="226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05152" y="4572000"/>
            <a:ext cx="1885902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Customer Concentration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2260" y="5314950"/>
            <a:ext cx="222879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2511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~15%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2260" y="5753099"/>
            <a:ext cx="2228794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Revenue from Top 10 Customers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4" y="1114425"/>
            <a:ext cx="5371965" cy="5438774"/>
          </a:xfrm>
          <a:prstGeom prst="roundRect">
            <a:avLst>
              <a:gd name="adj" fmla="val 2836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00639" y="1372960"/>
            <a:ext cx="285742" cy="244928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00639" y="1906961"/>
            <a:ext cx="190495" cy="1484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67333" y="1847849"/>
            <a:ext cx="7715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Singapore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34106" y="1828800"/>
            <a:ext cx="3543211" cy="304800"/>
          </a:xfrm>
          <a:prstGeom prst="roundRect">
            <a:avLst>
              <a:gd name="adj" fmla="val 25000"/>
            </a:avLst>
          </a:prstGeom>
          <a:solidFill>
            <a:srgbClr val="8B5C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34106" y="1828800"/>
            <a:ext cx="3543211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8B5CF6"/>
              </a:gs>
              <a:gs pos="100000">
                <a:srgbClr val="A855F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8403" y="1847849"/>
            <a:ext cx="60958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£3,040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00639" y="2326061"/>
            <a:ext cx="190495" cy="14847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67333" y="2266950"/>
            <a:ext cx="92390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Netherlands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34106" y="2247899"/>
            <a:ext cx="3543211" cy="304800"/>
          </a:xfrm>
          <a:prstGeom prst="roundRect">
            <a:avLst>
              <a:gd name="adj" fmla="val 25000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34106" y="2247899"/>
            <a:ext cx="3543211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34D3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8403" y="2266950"/>
            <a:ext cx="58101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£3,037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00639" y="2745161"/>
            <a:ext cx="190495" cy="14847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67333" y="2686050"/>
            <a:ext cx="67625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Australia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34106" y="2667000"/>
            <a:ext cx="3543211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34106" y="2667000"/>
            <a:ext cx="2838379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59E0B"/>
              </a:gs>
              <a:gs pos="100000">
                <a:srgbClr val="FBBF2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8403" y="2686050"/>
            <a:ext cx="60005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£2,430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00639" y="3164261"/>
            <a:ext cx="190495" cy="14847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67333" y="3105149"/>
            <a:ext cx="47623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Japan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34106" y="3086100"/>
            <a:ext cx="3543211" cy="304800"/>
          </a:xfrm>
          <a:prstGeom prst="roundRect">
            <a:avLst>
              <a:gd name="adj" fmla="val 25000"/>
            </a:avLst>
          </a:prstGeom>
          <a:solidFill>
            <a:srgbClr val="EC489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34106" y="3086100"/>
            <a:ext cx="2295467" cy="304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EC4899"/>
              </a:gs>
              <a:gs pos="100000">
                <a:srgbClr val="F472B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8403" y="3105149"/>
            <a:ext cx="55243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£1,969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639" y="3505199"/>
            <a:ext cx="4990975" cy="1009649"/>
          </a:xfrm>
          <a:prstGeom prst="roundRect">
            <a:avLst>
              <a:gd name="adj" fmla="val 15094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53036" y="3757612"/>
            <a:ext cx="266693" cy="20002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34026" y="3714750"/>
            <a:ext cx="137156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United Kingdom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24861" y="3657600"/>
            <a:ext cx="71435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£480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53036" y="4133849"/>
            <a:ext cx="46861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High volume, lower average order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79055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Customer Segmentation - RFM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4295667" cy="5334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33846" y="1190625"/>
            <a:ext cx="3143171" cy="1952624"/>
          </a:xfrm>
          <a:prstGeom prst="roundRect">
            <a:avLst>
              <a:gd name="adj" fmla="val 7804"/>
            </a:avLst>
          </a:prstGeom>
          <a:solidFill>
            <a:srgbClr val="F59E0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4223574" y="2100897"/>
            <a:ext cx="1952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324341" y="1419639"/>
            <a:ext cx="266693" cy="2087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2640" y="1343025"/>
            <a:ext cx="771505" cy="361950"/>
          </a:xfrm>
          <a:prstGeom prst="roundRect">
            <a:avLst>
              <a:gd name="adj" fmla="val 21052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2640" y="1343025"/>
            <a:ext cx="77150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14.6%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4341" y="1819275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633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4341" y="2219324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342" y="1819275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5.9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342" y="2219324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Days Recency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8343" y="1819275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£6,858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8343" y="2219324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Monetary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324341" y="2550458"/>
            <a:ext cx="190495" cy="15688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91035" y="2533649"/>
            <a:ext cx="253358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VIP perks, early access, protect from churn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8939" y="1190625"/>
            <a:ext cx="3143171" cy="1952624"/>
          </a:xfrm>
          <a:prstGeom prst="roundRect">
            <a:avLst>
              <a:gd name="adj" fmla="val 7804"/>
            </a:avLst>
          </a:prstGeom>
          <a:solidFill>
            <a:srgbClr val="10B98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7528667" y="2100897"/>
            <a:ext cx="1952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629434" y="1418189"/>
            <a:ext cx="266693" cy="2116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658208" y="1343025"/>
            <a:ext cx="771505" cy="361950"/>
          </a:xfrm>
          <a:prstGeom prst="roundRect">
            <a:avLst>
              <a:gd name="adj" fmla="val 21052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8208" y="1343025"/>
            <a:ext cx="77150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18.9%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9434" y="1819275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820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9434" y="2219324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1910" y="1819275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20.2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1910" y="2219324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Days Recency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3911" y="1819275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£2,440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3911" y="2219324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Monetary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29434" y="2550458"/>
            <a:ext cx="190495" cy="1568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96127" y="2533649"/>
            <a:ext cx="253358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Cross-sell, upsell, loyalty program nudges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33846" y="3295650"/>
            <a:ext cx="3143171" cy="2276474"/>
          </a:xfrm>
          <a:prstGeom prst="roundRect">
            <a:avLst>
              <a:gd name="adj" fmla="val 6694"/>
            </a:avLst>
          </a:prstGeom>
          <a:solidFill>
            <a:srgbClr val="3B82F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4061649" y="4367847"/>
            <a:ext cx="22764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324341" y="3701083"/>
            <a:ext cx="266693" cy="17973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7315017" y="3609975"/>
            <a:ext cx="819129" cy="361950"/>
          </a:xfrm>
          <a:prstGeom prst="roundRect">
            <a:avLst>
              <a:gd name="adj" fmla="val 21052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017" y="3609975"/>
            <a:ext cx="819129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42.0%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4341" y="4248150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1,820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4341" y="4648200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6342" y="4248150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81.9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342" y="4648200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Days Recency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8343" y="4248150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£1,126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8343" y="4648200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Monetary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324341" y="4977933"/>
            <a:ext cx="190495" cy="15968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591035" y="4962525"/>
            <a:ext cx="253358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Reminders, personalized offers, increase frequency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38939" y="3295650"/>
            <a:ext cx="3143171" cy="2276474"/>
          </a:xfrm>
          <a:prstGeom prst="roundRect">
            <a:avLst>
              <a:gd name="adj" fmla="val 6694"/>
            </a:avLst>
          </a:prstGeom>
          <a:solidFill>
            <a:srgbClr val="EF444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7366742" y="4367847"/>
            <a:ext cx="22764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629434" y="3520315"/>
            <a:ext cx="266693" cy="217418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620109" y="3448049"/>
            <a:ext cx="809604" cy="361950"/>
          </a:xfrm>
          <a:prstGeom prst="roundRect">
            <a:avLst>
              <a:gd name="adj" fmla="val 21052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20109" y="3448049"/>
            <a:ext cx="809604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F4444"/>
                </a:solidFill>
                <a:latin typeface="Montserrat"/>
                <a:rFonts ascii="Montserrat" hAnsi="Montserrat" eastAsia="Montserrat" cs="Montserrat"/>
              </a:rPr>
              <a:t>24.6%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29434" y="3924299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F4444"/>
                </a:solidFill>
                <a:latin typeface="Montserrat"/>
                <a:rFonts ascii="Montserrat" hAnsi="Montserrat" eastAsia="Montserrat" cs="Montserrat"/>
              </a:rPr>
              <a:t>1,065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9434" y="4324349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Customers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81910" y="3924299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F4444"/>
                </a:solidFill>
                <a:latin typeface="Montserrat"/>
                <a:rFonts ascii="Montserrat" hAnsi="Montserrat" eastAsia="Montserrat" cs="Montserrat"/>
              </a:rPr>
              <a:t>217.9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81910" y="4324349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Days Recency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43911" y="3924299"/>
            <a:ext cx="8858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F4444"/>
                </a:solidFill>
                <a:latin typeface="Montserrat"/>
                <a:rFonts ascii="Montserrat" hAnsi="Montserrat" eastAsia="Montserrat" cs="Montserrat"/>
              </a:rPr>
              <a:t>£488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43911" y="4324349"/>
            <a:ext cx="88580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Monetary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629434" y="4663888"/>
            <a:ext cx="190495" cy="14007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896127" y="4638674"/>
            <a:ext cx="253358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Win-back campaigns, re-engagement offers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4005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Churn Prediction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4295667" cy="5334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33846" y="1114425"/>
            <a:ext cx="3143171" cy="990599"/>
          </a:xfrm>
          <a:prstGeom prst="roundRect">
            <a:avLst>
              <a:gd name="adj" fmla="val 15384"/>
            </a:avLst>
          </a:prstGeom>
          <a:solidFill>
            <a:srgbClr val="8B5CF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286242" y="1314117"/>
            <a:ext cx="247643" cy="2102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10084" y="1266824"/>
            <a:ext cx="182875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Churn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6242" y="1695449"/>
            <a:ext cx="28383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No purchase in next 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8939" y="1114425"/>
            <a:ext cx="3143171" cy="990599"/>
          </a:xfrm>
          <a:prstGeom prst="roundRect">
            <a:avLst>
              <a:gd name="adj" fmla="val 15384"/>
            </a:avLst>
          </a:prstGeom>
          <a:solidFill>
            <a:srgbClr val="3B82F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91335" y="1312677"/>
            <a:ext cx="247643" cy="2130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177" y="1266824"/>
            <a:ext cx="107629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1335" y="1695449"/>
            <a:ext cx="28383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RFM features from history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846" y="2295525"/>
            <a:ext cx="6448263" cy="2562224"/>
          </a:xfrm>
          <a:prstGeom prst="roundRect">
            <a:avLst>
              <a:gd name="adj" fmla="val 5947"/>
            </a:avLst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324341" y="2565723"/>
            <a:ext cx="285742" cy="22160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324341" y="3009900"/>
            <a:ext cx="1943051" cy="790574"/>
          </a:xfrm>
          <a:prstGeom prst="roundRect">
            <a:avLst>
              <a:gd name="adj" fmla="val 9638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8639" y="31242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8639" y="3429000"/>
            <a:ext cx="17144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XGBoost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1690" y="3009900"/>
            <a:ext cx="1943051" cy="790574"/>
          </a:xfrm>
          <a:prstGeom prst="roundRect">
            <a:avLst>
              <a:gd name="adj" fmla="val 9638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5987" y="31242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5987" y="3429000"/>
            <a:ext cx="17144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66%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48563" y="3009900"/>
            <a:ext cx="1943051" cy="790574"/>
          </a:xfrm>
          <a:prstGeom prst="roundRect">
            <a:avLst>
              <a:gd name="adj" fmla="val 9638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2860" y="31242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ROC-AUC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2860" y="3429000"/>
            <a:ext cx="17144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0.721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24341" y="3876674"/>
            <a:ext cx="1943051" cy="790574"/>
          </a:xfrm>
          <a:prstGeom prst="roundRect">
            <a:avLst>
              <a:gd name="adj" fmla="val 9638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38639" y="3990974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8639" y="4295774"/>
            <a:ext cx="17144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Random Forest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1690" y="3876674"/>
            <a:ext cx="1943051" cy="790574"/>
          </a:xfrm>
          <a:prstGeom prst="roundRect">
            <a:avLst>
              <a:gd name="adj" fmla="val 9638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5987" y="3990974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5987" y="4295774"/>
            <a:ext cx="17144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61%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48563" y="3876674"/>
            <a:ext cx="1943051" cy="790574"/>
          </a:xfrm>
          <a:prstGeom prst="roundRect">
            <a:avLst>
              <a:gd name="adj" fmla="val 9638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2860" y="3990974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ROC-AUC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2860" y="4295774"/>
            <a:ext cx="17144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0.668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33846" y="5048250"/>
            <a:ext cx="6448263" cy="2590799"/>
          </a:xfrm>
          <a:prstGeom prst="roundRect">
            <a:avLst>
              <a:gd name="adj" fmla="val 5882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324341" y="5300176"/>
            <a:ext cx="285742" cy="239096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324341" y="5790942"/>
            <a:ext cx="209544" cy="15291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48183" y="6019800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Win-back offers for At Risk segment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324341" y="6368363"/>
            <a:ext cx="209544" cy="19822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48183" y="6619875"/>
            <a:ext cx="26288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VIP retention benefits and early access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324341" y="6981181"/>
            <a:ext cx="209544" cy="17273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648183" y="721995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Data-driven customer targeting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49568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Key Insights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3533686" cy="2543175"/>
          </a:xfrm>
          <a:prstGeom prst="roundRect">
            <a:avLst>
              <a:gd name="adj" fmla="val 5992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95963" y="2319972"/>
            <a:ext cx="2543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179" y="1304925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23" y="1371600"/>
            <a:ext cx="10477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485862" y="1442671"/>
            <a:ext cx="304792" cy="2579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179" y="1952624"/>
            <a:ext cx="3114597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Anonymous Checkout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179" y="2695575"/>
            <a:ext cx="3114597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Significant anonymous transactions limit customer analytics and retention capabilities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3766" y="1114425"/>
            <a:ext cx="3533686" cy="2543175"/>
          </a:xfrm>
          <a:prstGeom prst="roundRect">
            <a:avLst>
              <a:gd name="adj" fmla="val 5992"/>
            </a:avLst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128219" y="2319972"/>
            <a:ext cx="2543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2360" y="1304925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3331" y="1371600"/>
            <a:ext cx="16192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2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210044" y="1428017"/>
            <a:ext cx="304792" cy="2872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62360" y="1952624"/>
            <a:ext cx="31145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Strong Q4 Seasonality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360" y="2381250"/>
            <a:ext cx="3114597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Revenue peaks in Nov-Dec (£1.16M, £1.09M). Inventory and marketing planning 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8423" y="1114425"/>
            <a:ext cx="3533686" cy="2543175"/>
          </a:xfrm>
          <a:prstGeom prst="roundRect">
            <a:avLst>
              <a:gd name="adj" fmla="val 5992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6842876" y="2319972"/>
            <a:ext cx="2543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7018" y="1304925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513" y="1371600"/>
            <a:ext cx="16192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3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24701" y="1442671"/>
            <a:ext cx="304792" cy="257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77018" y="1952624"/>
            <a:ext cx="3114597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Product Revenue Concentration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7018" y="2695575"/>
            <a:ext cx="3114597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Top 10 products drive disproportionate revenue. Stockouts risk significant impact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3848099"/>
            <a:ext cx="3533686" cy="2286000"/>
          </a:xfrm>
          <a:prstGeom prst="roundRect">
            <a:avLst>
              <a:gd name="adj" fmla="val 6666"/>
            </a:avLst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467376" y="4925059"/>
            <a:ext cx="2286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8179" y="40385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8B5C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624" y="4105274"/>
            <a:ext cx="18097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4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485862" y="4176346"/>
            <a:ext cx="304792" cy="2579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8179" y="4686300"/>
            <a:ext cx="31145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Retention 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79" y="5114925"/>
            <a:ext cx="3114597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65.6% repeat customers, but 34.4% one-time buyers. Win-back campaigns essential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3766" y="3848099"/>
            <a:ext cx="3533686" cy="2286000"/>
          </a:xfrm>
          <a:prstGeom prst="roundRect">
            <a:avLst>
              <a:gd name="adj" fmla="val 6666"/>
            </a:avLst>
          </a:prstGeom>
          <a:solidFill>
            <a:srgbClr val="EC489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256806" y="4925059"/>
            <a:ext cx="2286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62360" y="40385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EC489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3331" y="4105274"/>
            <a:ext cx="16192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C4899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10044" y="4176346"/>
            <a:ext cx="304792" cy="2579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562360" y="4686300"/>
            <a:ext cx="311459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EC4899"/>
                </a:solidFill>
                <a:latin typeface="Montserrat"/>
                <a:rFonts ascii="Montserrat" hAnsi="Montserrat" eastAsia="Montserrat" cs="Montserrat"/>
              </a:rPr>
              <a:t>UK/International Dynamics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360" y="5114925"/>
            <a:ext cx="3114597" cy="7715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UK dominates volume (82%), but international markets show higher average order value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8423" y="3848099"/>
            <a:ext cx="3533686" cy="2286000"/>
          </a:xfrm>
          <a:prstGeom prst="roundRect">
            <a:avLst>
              <a:gd name="adj" fmla="val 6666"/>
            </a:avLst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6971463" y="4925059"/>
            <a:ext cx="2286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77018" y="40385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7988" y="4105274"/>
            <a:ext cx="171445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4B8A6"/>
                </a:solidFill>
                <a:latin typeface="Montserrat"/>
                <a:rFonts ascii="Montserrat" hAnsi="Montserrat" eastAsia="Montserrat" cs="Montserrat"/>
              </a:rPr>
              <a:t>6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24701" y="4223238"/>
            <a:ext cx="304792" cy="16412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77018" y="4686300"/>
            <a:ext cx="3114597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14B8A6"/>
                </a:solidFill>
                <a:latin typeface="Montserrat"/>
                <a:rFonts ascii="Montserrat" hAnsi="Montserrat" eastAsia="Montserrat" cs="Montserrat"/>
              </a:rPr>
              <a:t>Clear Customer Segmentation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7018" y="5429250"/>
            <a:ext cx="3114597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Four distinct segments with actionable strategies for each customer tier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584" y="6362700"/>
            <a:ext cx="10972525" cy="723900"/>
          </a:xfrm>
          <a:prstGeom prst="roundRect">
            <a:avLst>
              <a:gd name="adj" fmla="val 21052"/>
            </a:avLst>
          </a:prstGeom>
          <a:solidFill>
            <a:srgbClr val="3B82F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0079" y="6597540"/>
            <a:ext cx="342891" cy="25421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295367" y="6581774"/>
            <a:ext cx="862943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These insights provide a foundation for data-driven decision making and targeted business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0F172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6767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Business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3533686" cy="2867025"/>
          </a:xfrm>
          <a:prstGeom prst="roundRect">
            <a:avLst>
              <a:gd name="adj" fmla="val 5315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741378" y="2465387"/>
            <a:ext cx="28670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03" y="130492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3B82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47" y="1381124"/>
            <a:ext cx="12382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571585" y="1464879"/>
            <a:ext cx="342891" cy="289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03" y="2066924"/>
            <a:ext cx="310507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Identity Capture Improvement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8810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397" y="2867025"/>
            <a:ext cx="224784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Reduce anonymous checkout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32144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4397" y="3200400"/>
            <a:ext cx="173350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Email/account capture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3547782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4397" y="3533774"/>
            <a:ext cx="172398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Enable personalization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3766" y="1114425"/>
            <a:ext cx="3533686" cy="2867025"/>
          </a:xfrm>
          <a:prstGeom prst="roundRect">
            <a:avLst>
              <a:gd name="adj" fmla="val 5315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982804" y="2465387"/>
            <a:ext cx="28670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1885" y="130492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0B981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1430" y="1381124"/>
            <a:ext cx="18097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2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295767" y="1450099"/>
            <a:ext cx="342891" cy="3192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1885" y="2066924"/>
            <a:ext cx="310507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Seasonality Planning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71885" y="2538132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38579" y="2524125"/>
            <a:ext cx="18763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Allocate inventory for Q4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71885" y="287150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38579" y="2857500"/>
            <a:ext cx="200972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Marketing budget Sep-Dec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71885" y="32048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38579" y="3190874"/>
            <a:ext cx="173350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Prepare for peak surge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8423" y="1114425"/>
            <a:ext cx="3533686" cy="2867025"/>
          </a:xfrm>
          <a:prstGeom prst="roundRect">
            <a:avLst>
              <a:gd name="adj" fmla="val 5315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697461" y="2465387"/>
            <a:ext cx="28670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86542" y="130492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59E0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5612" y="1381124"/>
            <a:ext cx="18097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3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10424" y="1464879"/>
            <a:ext cx="342891" cy="28969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86542" y="2066924"/>
            <a:ext cx="310507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Hero Product Protection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86542" y="2538132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53236" y="2524125"/>
            <a:ext cx="137156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Prevent stockouts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86542" y="287150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53236" y="2857500"/>
            <a:ext cx="222879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Bundle complementary items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86542" y="320488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53236" y="3190874"/>
            <a:ext cx="88580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Lift UK AOV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" y="4171950"/>
            <a:ext cx="5391015" cy="2524125"/>
          </a:xfrm>
          <a:prstGeom prst="roundRect">
            <a:avLst>
              <a:gd name="adj" fmla="val 6037"/>
            </a:avLst>
          </a:prstGeom>
          <a:solidFill>
            <a:srgbClr val="8B5C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-569928" y="5351462"/>
            <a:ext cx="25241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7703" y="43624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8B5C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7723" y="4438649"/>
            <a:ext cx="20954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4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571585" y="4575612"/>
            <a:ext cx="342891" cy="18327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47703" y="5124449"/>
            <a:ext cx="496240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Retention Focus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47703" y="559565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14397" y="5581649"/>
            <a:ext cx="298125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Win-back At Risk customers (218 days)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47703" y="5929032"/>
            <a:ext cx="190495" cy="16248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14397" y="5915025"/>
            <a:ext cx="229546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Grow Need Attention segment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47703" y="6262407"/>
            <a:ext cx="190495" cy="16248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4397" y="6248400"/>
            <a:ext cx="220021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Targeted offers &amp; campaigns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095" y="4171950"/>
            <a:ext cx="5391015" cy="2524125"/>
          </a:xfrm>
          <a:prstGeom prst="roundRect">
            <a:avLst>
              <a:gd name="adj" fmla="val 6037"/>
            </a:avLst>
          </a:prstGeom>
          <a:solidFill>
            <a:srgbClr val="EC48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011583" y="5351462"/>
            <a:ext cx="25241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29214" y="43624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EC489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38759" y="4438649"/>
            <a:ext cx="18097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EC4899"/>
                </a:solidFill>
                <a:latin typeface="Montserrat"/>
                <a:rFonts ascii="Montserrat" hAnsi="Montserrat" eastAsia="Montserrat" cs="Montserrat"/>
              </a:rPr>
              <a:t>5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153096" y="4522404"/>
            <a:ext cx="342891" cy="28969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429214" y="5124449"/>
            <a:ext cx="496240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EC4899"/>
                </a:solidFill>
                <a:latin typeface="Montserrat"/>
                <a:rFonts ascii="Montserrat" hAnsi="Montserrat" eastAsia="Montserrat" cs="Montserrat"/>
              </a:rPr>
              <a:t>International Expansion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29214" y="5595657"/>
            <a:ext cx="190495" cy="16248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695907" y="5581649"/>
            <a:ext cx="209544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Prioritize high-AOV markets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29214" y="5929032"/>
            <a:ext cx="190495" cy="16248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95907" y="5915025"/>
            <a:ext cx="296220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Singapore £3,040 • Netherlands £3,037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29214" y="6262407"/>
            <a:ext cx="190495" cy="16248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95907" y="6248400"/>
            <a:ext cx="225736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Tailored shipping &amp; marketing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584" y="6886575"/>
            <a:ext cx="10972525" cy="609600"/>
          </a:xfrm>
          <a:prstGeom prst="roundRect">
            <a:avLst>
              <a:gd name="adj" fmla="val 25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61980" y="7063886"/>
            <a:ext cx="304792" cy="25497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181070" y="7048500"/>
            <a:ext cx="791507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Implementation of these strategies will drive revenue growth and improve customer retention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752956" y="417058"/>
            <a:ext cx="685782" cy="5755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28854" y="1428750"/>
            <a:ext cx="6533986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2080"/>
              </a:spcAft>
            </a:pPr>
            <a:r>
              <a:rPr sz="3348" b="1">
                <a:solidFill>
                  <a:srgbClr val="FFFFFF"/>
                </a:solidFill>
                <a:latin typeface="Montserrat"/>
                <a:rFonts ascii="Montserrat" hAnsi="Montserrat" eastAsia="Montserrat" cs="Montserra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8854" y="2533649"/>
            <a:ext cx="653398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Ready to transform insights into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8854" y="3257550"/>
            <a:ext cx="3171745" cy="1066799"/>
          </a:xfrm>
          <a:prstGeom prst="roundRect">
            <a:avLst>
              <a:gd name="adj" fmla="val 14285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019349" y="3527977"/>
            <a:ext cx="266693" cy="144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62240" y="3448049"/>
            <a:ext cx="168588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3B82F6"/>
                </a:solidFill>
                <a:latin typeface="Montserrat"/>
                <a:rFonts ascii="Montserrat" hAnsi="Montserrat" eastAsia="Montserrat" cs="Montserrat"/>
              </a:rPr>
              <a:t>£8.9M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349" y="3867149"/>
            <a:ext cx="27907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Revenue opportunity identified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095" y="3257550"/>
            <a:ext cx="3171745" cy="1066799"/>
          </a:xfrm>
          <a:prstGeom prst="roundRect">
            <a:avLst>
              <a:gd name="adj" fmla="val 14285"/>
            </a:avLst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81590" y="3527977"/>
            <a:ext cx="266693" cy="1449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24481" y="3448049"/>
            <a:ext cx="24478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0B981"/>
                </a:solidFill>
                <a:latin typeface="Montserrat"/>
                <a:rFonts ascii="Montserrat" hAnsi="Montserrat" eastAsia="Montserrat" cs="Montserrat"/>
              </a:rPr>
              <a:t>4 Customer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590" y="3867149"/>
            <a:ext cx="27907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Actionable strategies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8854" y="4514850"/>
            <a:ext cx="3171745" cy="1066799"/>
          </a:xfrm>
          <a:prstGeom prst="roundRect">
            <a:avLst>
              <a:gd name="adj" fmla="val 14285"/>
            </a:avLst>
          </a:prstGeom>
          <a:solidFill>
            <a:srgbClr val="8B5C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019349" y="4753389"/>
            <a:ext cx="266693" cy="2087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62240" y="4705350"/>
            <a:ext cx="140966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8B5CF6"/>
                </a:solidFill>
                <a:latin typeface="Montserrat"/>
                <a:rFonts ascii="Montserrat" hAnsi="Montserrat" eastAsia="Montserrat" cs="Montserrat"/>
              </a:rPr>
              <a:t>Churn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9349" y="5124449"/>
            <a:ext cx="27907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Proactive retention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095" y="4514850"/>
            <a:ext cx="3171745" cy="1066799"/>
          </a:xfrm>
          <a:prstGeom prst="roundRect">
            <a:avLst>
              <a:gd name="adj" fmla="val 14285"/>
            </a:avLst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81590" y="4744692"/>
            <a:ext cx="266693" cy="2261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24481" y="4705350"/>
            <a:ext cx="17144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59E0B"/>
                </a:solidFill>
                <a:latin typeface="Montserrat"/>
                <a:rFonts ascii="Montserrat" hAnsi="Montserrat" eastAsia="Montserrat" cs="Montserrat"/>
              </a:rPr>
              <a:t>Expansion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590" y="5124449"/>
            <a:ext cx="27907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High-AOV markets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8854" y="6210299"/>
            <a:ext cx="653398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Thank you 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